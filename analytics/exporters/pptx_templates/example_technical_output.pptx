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1371600"/>
            <a:ext cx="73152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Dream-Studio Technical Analytics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2560320"/>
            <a:ext cx="73152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3498DB"/>
                </a:solidFill>
              </a:defRPr>
            </a:pPr>
            <a:r>
              <a:t>[Detailed Analysis Report]</a:t>
            </a:r>
          </a:p>
        </p:txBody>
      </p:sp>
      <p:sp>
        <p:nvSpPr>
          <p:cNvPr id="4" name="Rectangle 3"/>
          <p:cNvSpPr/>
          <p:nvPr/>
        </p:nvSpPr>
        <p:spPr>
          <a:xfrm>
            <a:off x="914400" y="3291840"/>
            <a:ext cx="2743200" cy="45720"/>
          </a:xfrm>
          <a:prstGeom prst="rect">
            <a:avLst/>
          </a:prstGeom>
          <a:solidFill>
            <a:srgbClr val="E67E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1/17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Table of Contents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188720"/>
            <a:ext cx="3657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1. Methodology &amp; Data Sources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2. Skill Usage Analysis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3. Token &amp; Cost Analysis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4. Session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754880" y="1188720"/>
            <a:ext cx="3657600" cy="3474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5. Model Performance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6. Lessons Learned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7. Workflow Analysis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8. Recommendations</a:t>
            </a:r>
          </a:p>
          <a:p>
            <a:pPr>
              <a:defRPr sz="1600">
                <a:solidFill>
                  <a:srgbClr val="34495E"/>
                </a:solidFill>
              </a:defRPr>
            </a:pPr>
            <a:r>
              <a:t>9. Appendix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2/17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Methodology &amp; Data Sources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4495E"/>
                </a:solidFill>
              </a:defRPr>
            </a:pPr>
            <a:r>
              <a:t>Data collection period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Analysis framework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Data sources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3/17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Skill Usage Overview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34747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34495E"/>
                </a:solidFill>
              </a:defRPr>
            </a:pPr>
            <a:r>
              <a:t>[CHART PLACEHOLDER]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18872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Key Insights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1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2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4/17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Skill Performance Deep-Dive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34747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34495E"/>
                </a:solidFill>
              </a:defRPr>
            </a:pPr>
            <a:r>
              <a:t>[CHART PLACEHOLDER]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18872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Key Insights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1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2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5/17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Token Usage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34747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34495E"/>
                </a:solidFill>
              </a:defRPr>
            </a:pPr>
            <a:r>
              <a:t>[CHART PLACEHOLDER]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18872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Key Insights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1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2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6/17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Cost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98DB"/>
                </a:solidFill>
              </a:defRPr>
            </a:pPr>
            <a:r>
              <a:t>[Value]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Total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3716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5544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7AE60"/>
                </a:solidFill>
              </a:defRPr>
            </a:pPr>
            <a:r>
              <a:t>[Value]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945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Total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C40F"/>
                </a:solidFill>
              </a:defRPr>
            </a:pPr>
            <a:r>
              <a:t>[Value]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Total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2004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3832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7E22"/>
                </a:solidFill>
              </a:defRPr>
            </a:pPr>
            <a:r>
              <a:t>[Value]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023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Avg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7/17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Session Analytics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34747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34495E"/>
                </a:solidFill>
              </a:defRPr>
            </a:pPr>
            <a:r>
              <a:t>[CHART PLACEHOLDER]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18872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Key Insights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1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2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8/17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Session Duration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34747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34495E"/>
                </a:solidFill>
              </a:defRPr>
            </a:pPr>
            <a:r>
              <a:t>[CHART PLACEHOLDER]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18872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Key Insights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1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2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9/17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Model Performance Comparison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34747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34495E"/>
                </a:solidFill>
              </a:defRPr>
            </a:pPr>
            <a:r>
              <a:t>[CHART PLACEHOLDER]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18872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Key Insights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1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2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10/17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Model Selection Patterns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4495E"/>
                </a:solidFill>
              </a:defRPr>
            </a:pPr>
            <a:r>
              <a:t>Usage by model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Cost per model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Performance metrics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11/17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Lessons Learned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4495E"/>
                </a:solidFill>
              </a:defRPr>
            </a:pPr>
            <a:r>
              <a:t>Key insight 1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Key insight 2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Key insight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12/17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Workflow Analysis</a:t>
            </a:r>
          </a:p>
        </p:txBody>
      </p:sp>
      <p:sp>
        <p:nvSpPr>
          <p:cNvPr id="3" name="Rectangle 2"/>
          <p:cNvSpPr/>
          <p:nvPr/>
        </p:nvSpPr>
        <p:spPr>
          <a:xfrm>
            <a:off x="731520" y="1188720"/>
            <a:ext cx="5029200" cy="3474720"/>
          </a:xfrm>
          <a:prstGeom prst="rect">
            <a:avLst/>
          </a:prstGeom>
          <a:solidFill>
            <a:srgbClr val="ECF0F1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2000">
                <a:solidFill>
                  <a:srgbClr val="34495E"/>
                </a:solidFill>
              </a:defRPr>
            </a:pPr>
            <a:r>
              <a:t>[CHART PLACEHOLDER]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0" y="1188720"/>
            <a:ext cx="274320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2C3E50"/>
                </a:solidFill>
              </a:defRPr>
            </a:pPr>
            <a:r>
              <a:t>Key Insights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1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2</a:t>
            </a:r>
          </a:p>
          <a:p>
            <a:pPr>
              <a:defRPr sz="1400">
                <a:solidFill>
                  <a:srgbClr val="34495E"/>
                </a:solidFill>
              </a:defRPr>
            </a:pPr>
            <a:r>
              <a:t>Insight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13/17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Workflow Efficiency Metrics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3716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5840" y="15544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3498DB"/>
                </a:solidFill>
              </a:defRPr>
            </a:pPr>
            <a:r>
              <a:t>[Value]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21945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Total Sessions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846320" y="13716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120640" y="15544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27AE60"/>
                </a:solidFill>
              </a:defRPr>
            </a:pPr>
            <a:r>
              <a:t>[Value]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120640" y="21945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Total Tokens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2004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F1C40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33832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F1C40F"/>
                </a:solidFill>
              </a:defRPr>
            </a:pPr>
            <a:r>
              <a:t>[Value]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023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Total Cost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846320" y="3200400"/>
            <a:ext cx="3657600" cy="1371600"/>
          </a:xfrm>
          <a:prstGeom prst="roundRect">
            <a:avLst/>
          </a:prstGeom>
          <a:solidFill>
            <a:srgbClr val="FFFFFF"/>
          </a:solidFill>
          <a:ln w="38100">
            <a:solidFill>
              <a:srgbClr val="E67E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120640" y="3383280"/>
            <a:ext cx="310896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E67E22"/>
                </a:solidFill>
              </a:defRPr>
            </a:pPr>
            <a:r>
              <a:t>[Value]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120640" y="4023360"/>
            <a:ext cx="310896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600">
                <a:solidFill>
                  <a:srgbClr val="34495E"/>
                </a:solidFill>
              </a:defRPr>
            </a:pPr>
            <a:r>
              <a:t>Avg Session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14/17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Detailed Recommendations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4495E"/>
                </a:solidFill>
              </a:defRPr>
            </a:pPr>
            <a:r>
              <a:t>Recommendation 1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Recommendation 2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Recommendation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15/17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2C3E50"/>
                </a:solidFill>
              </a:defRPr>
            </a:pPr>
            <a:r>
              <a:t>Appendix: Methodology Details</a:t>
            </a:r>
          </a:p>
        </p:txBody>
      </p:sp>
      <p:sp>
        <p:nvSpPr>
          <p:cNvPr id="3" name="Rectangle 2"/>
          <p:cNvSpPr/>
          <p:nvPr/>
        </p:nvSpPr>
        <p:spPr>
          <a:xfrm>
            <a:off x="457200" y="868680"/>
            <a:ext cx="1828800" cy="27432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1188720"/>
            <a:ext cx="768096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/>
          <a:p>
            <a:pPr>
              <a:defRPr sz="1800">
                <a:solidFill>
                  <a:srgbClr val="34495E"/>
                </a:solidFill>
              </a:defRPr>
            </a:pPr>
            <a:r>
              <a:t>Data processing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Analysis approach</a:t>
            </a:r>
          </a:p>
          <a:p>
            <a:pPr>
              <a:defRPr sz="1800">
                <a:solidFill>
                  <a:srgbClr val="34495E"/>
                </a:solidFill>
              </a:defRPr>
            </a:pPr>
            <a:r>
              <a:t>Limitations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16/17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2C3E5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1371600"/>
            <a:ext cx="5486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5400" b="1">
                <a:solidFill>
                  <a:srgbClr val="FFFFFF"/>
                </a:solidFill>
              </a:defRPr>
            </a:pPr>
            <a:r>
              <a:t>Questions?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32004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>
                <a:solidFill>
                  <a:srgbClr val="3498DB"/>
                </a:solidFill>
              </a:defRPr>
            </a:pPr>
            <a:r>
              <a:t>dream-studio analytics</a:t>
            </a:r>
          </a:p>
          <a:p>
            <a:pPr>
              <a:defRPr sz="1800">
                <a:solidFill>
                  <a:srgbClr val="3498DB"/>
                </a:solidFill>
              </a:defRPr>
            </a:pPr>
            <a:r>
              <a:t>dannis.seay@twinrootsllc.com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0" y="4754880"/>
            <a:ext cx="731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34495E"/>
                </a:solidFill>
              </a:defRPr>
            </a:pPr>
            <a:r>
              <a:t>17/17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